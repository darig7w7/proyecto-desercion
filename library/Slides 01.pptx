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s-E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2655715" name="Marcador de encabezado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2379095" name="Marcador de fech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s-ES"/>
              <a:t>10/30/2013</a:t>
            </a:fld>
            <a:endParaRPr lang="es-ES"/>
          </a:p>
        </p:txBody>
      </p:sp>
      <p:sp>
        <p:nvSpPr>
          <p:cNvPr id="2036832073" name="Marcador de imagen de diapositiva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s-ES"/>
          </a:p>
        </p:txBody>
      </p:sp>
      <p:sp>
        <p:nvSpPr>
          <p:cNvPr id="700015880" name="Marcador de nota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357780310" name="Marcador de pie de página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10241824" name="Marcador de número de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s-ES"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4159445" name="Marcador de imagen de diapositiva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1897734" name="Marcador de notas 4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s-ES">
              <a:latin typeface="Arial"/>
              <a:cs typeface="Arial"/>
            </a:endParaRPr>
          </a:p>
        </p:txBody>
      </p:sp>
      <p:sp>
        <p:nvSpPr>
          <p:cNvPr id="1946752457" name="Marcador de número de diapositiva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s-ES"/>
              <a:t>1</a:t>
            </a:fld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DD73B4-142B-8C29-F04B-76CE53B0345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558C64-DD20-32DC-E472-5B94C58613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2D50A8-CE5D-E3AA-6A64-46AEF0C533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0043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5032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21462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759465-6D53-857E-B6AC-344621926B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1667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36347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7210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54B978-7806-CB40-F4C7-25C5E9B3BC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5764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9250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9124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A744D2-FC1D-CADD-63D6-4ADC1D6E47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8590642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58832723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52240142" name="Shape 1061"/>
          <p:cNvSpPr>
            <a:spLocks noChangeArrowheads="1" noGrp="1"/>
          </p:cNvSpPr>
          <p:nvPr userDrawn="1"/>
        </p:nvSpPr>
        <p:spPr bwMode="auto">
          <a:xfrm>
            <a:off x="6567031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78816267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57635350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28958790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6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7575596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66698247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6636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1361181468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6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60332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5722592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2399700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1439377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14261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6182303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901368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805475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07645874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49686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47374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1133513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5376340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6042089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41876085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179454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5707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0523527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08060745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14613853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76370069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7947130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03220882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586005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78613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7647111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60369746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25355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05488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99961985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16860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0961892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77412870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8732259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50083752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47406257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178074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6292862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02328618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81877431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2040869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63624523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89888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4291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5565959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2620686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66558708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21113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66302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4187012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6045257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8040754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88502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459383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36652429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39149756" name="Shape 1061"/>
          <p:cNvSpPr>
            <a:spLocks noChangeArrowheads="1" noGrp="1"/>
          </p:cNvSpPr>
          <p:nvPr userDrawn="1"/>
        </p:nvSpPr>
        <p:spPr bwMode="auto">
          <a:xfrm>
            <a:off x="1637457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41480213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5620024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7599155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36027988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4056695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8875079" name="Título 1"/>
          <p:cNvSpPr>
            <a:spLocks noGrp="1"/>
          </p:cNvSpPr>
          <p:nvPr>
            <p:ph type="ctrTitle"/>
          </p:nvPr>
        </p:nvSpPr>
        <p:spPr bwMode="auto">
          <a:xfrm flipH="0" flipV="0">
            <a:off x="5060504" y="1616628"/>
            <a:ext cx="6256075" cy="91227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s-ES" sz="44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STUDENT DROPOUT RISK PREDICTION</a:t>
            </a:r>
            <a:endParaRPr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7839596" name="Subtítulo 2"/>
          <p:cNvSpPr>
            <a:spLocks noGrp="1"/>
          </p:cNvSpPr>
          <p:nvPr>
            <p:ph type="subTitle"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s-ES" sz="1800" b="1" i="0" u="none" strike="noStrike" cap="none" spc="0"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ENTRENAMIENTO DEL MODELO Y</a:t>
            </a:r>
            <a:endParaRPr sz="1800" b="1" i="0" u="none" strike="noStrike" cap="none" spc="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s-ES" sz="1800" b="1" i="0" u="none" strike="noStrike" cap="none" spc="0"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PUESTA EN PRODUCCIÓN</a:t>
            </a:r>
            <a:endParaRPr sz="1800" b="1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9760822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85369" y="153373"/>
            <a:ext cx="935043" cy="1011717"/>
          </a:xfrm>
          <a:prstGeom prst="rect">
            <a:avLst/>
          </a:prstGeom>
        </p:spPr>
      </p:pic>
      <p:sp>
        <p:nvSpPr>
          <p:cNvPr id="1187629130" name=""/>
          <p:cNvSpPr txBox="1"/>
          <p:nvPr/>
        </p:nvSpPr>
        <p:spPr bwMode="auto">
          <a:xfrm rot="0" flipH="0" flipV="0">
            <a:off x="1510633" y="232042"/>
            <a:ext cx="5394322" cy="9330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s-ES" sz="1200" b="1" i="0" u="none" strike="noStrike" cap="none" spc="0"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UNIVERSIDAD NACIONAL DEL ALTIPLANO - PUNO</a:t>
            </a:r>
            <a:endParaRPr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14999"/>
              </a:lnSpc>
              <a:defRPr/>
            </a:pPr>
            <a:r>
              <a:rPr sz="1200">
                <a:solidFill>
                  <a:schemeClr val="bg1">
                    <a:lumMod val="50000"/>
                  </a:schemeClr>
                </a:solidFill>
              </a:rPr>
              <a:t>ESCUELA DE POSGRADO</a:t>
            </a:r>
            <a:endParaRPr sz="1200">
              <a:solidFill>
                <a:schemeClr val="bg1">
                  <a:lumMod val="50000"/>
                </a:schemeClr>
              </a:solidFill>
            </a:endParaRPr>
          </a:p>
          <a:p>
            <a:pPr>
              <a:lnSpc>
                <a:spcPct val="114999"/>
              </a:lnSpc>
              <a:defRPr/>
            </a:pPr>
            <a:r>
              <a:rPr sz="1200" b="1">
                <a:solidFill>
                  <a:schemeClr val="bg1">
                    <a:lumMod val="50000"/>
                  </a:schemeClr>
                </a:solidFill>
              </a:rPr>
              <a:t>MAESTRÍA EN CIENCIA DE DATOS</a:t>
            </a:r>
            <a:endParaRPr/>
          </a:p>
          <a:p>
            <a:pPr marL="0" marR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s-ES" sz="12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</a:rPr>
              <a:t>MACHINE LEARNING I</a:t>
            </a:r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763634014" name=""/>
          <p:cNvSpPr txBox="1"/>
          <p:nvPr/>
        </p:nvSpPr>
        <p:spPr bwMode="auto">
          <a:xfrm rot="0" flipH="0" flipV="0">
            <a:off x="6797334" y="5420249"/>
            <a:ext cx="4472667" cy="12805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r">
              <a:lnSpc>
                <a:spcPct val="100000"/>
              </a:lnSpc>
              <a:spcBef>
                <a:spcPts val="431"/>
              </a:spcBef>
              <a:spcAft>
                <a:spcPts val="0"/>
              </a:spcAft>
              <a:buFont typeface="Arial"/>
              <a:buNone/>
              <a:defRPr/>
            </a:pPr>
            <a:r>
              <a:rPr lang="es-ES" sz="1000" b="1" i="0" u="none" strike="noStrike" cap="none" spc="0">
                <a:solidFill>
                  <a:srgbClr val="FF5A16"/>
                </a:solidFill>
                <a:latin typeface="Arial"/>
                <a:ea typeface="Arial"/>
                <a:cs typeface="Arial"/>
              </a:rPr>
              <a:t>INTEGRANTES:</a:t>
            </a:r>
            <a:endParaRPr sz="1000" b="1" i="0" u="none" strike="noStrike" cap="none" spc="0">
              <a:solidFill>
                <a:srgbClr val="FF5A16"/>
              </a:solidFill>
              <a:latin typeface="Arial"/>
              <a:cs typeface="Arial"/>
            </a:endParaRPr>
          </a:p>
          <a:p>
            <a:pPr marL="0" marR="0" indent="0" algn="r">
              <a:lnSpc>
                <a:spcPct val="100000"/>
              </a:lnSpc>
              <a:spcBef>
                <a:spcPts val="431"/>
              </a:spcBef>
              <a:spcAft>
                <a:spcPts val="0"/>
              </a:spcAft>
              <a:buFont typeface="Arial"/>
              <a:buNone/>
              <a:defRPr/>
            </a:pPr>
            <a:r>
              <a:rPr lang="es-ES" sz="1000" b="1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DARWIN RIGOBERTO MAMANI QUISPE</a:t>
            </a:r>
            <a:endParaRPr sz="1000" b="1" i="0" u="none" strike="noStrike" cap="none" spc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marR="0" indent="0" algn="r">
              <a:lnSpc>
                <a:spcPct val="100000"/>
              </a:lnSpc>
              <a:spcBef>
                <a:spcPts val="431"/>
              </a:spcBef>
              <a:spcAft>
                <a:spcPts val="0"/>
              </a:spcAft>
              <a:buFont typeface="Arial"/>
              <a:buNone/>
              <a:defRPr/>
            </a:pPr>
            <a:r>
              <a:rPr lang="es-ES" sz="1000" b="1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MELBIS CHINO HUAYCANI</a:t>
            </a:r>
            <a:endParaRPr sz="1000" b="1" i="0" u="none" strike="noStrike" cap="none" spc="0">
              <a:solidFill>
                <a:schemeClr val="tx1">
                  <a:lumMod val="65000"/>
                  <a:lumOff val="35000"/>
                </a:schemeClr>
              </a:solidFill>
              <a:latin typeface="Arial"/>
              <a:cs typeface="Arial"/>
            </a:endParaRPr>
          </a:p>
          <a:p>
            <a:pPr marL="0" marR="0" indent="0" algn="r">
              <a:lnSpc>
                <a:spcPct val="100000"/>
              </a:lnSpc>
              <a:spcBef>
                <a:spcPts val="431"/>
              </a:spcBef>
              <a:spcAft>
                <a:spcPts val="0"/>
              </a:spcAft>
              <a:buFont typeface="Arial"/>
              <a:buNone/>
              <a:defRPr/>
            </a:pPr>
            <a:r>
              <a:rPr lang="es-ES" sz="1000" b="1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MILTON EDWARD HUMPIRI FLORES</a:t>
            </a:r>
            <a:endParaRPr lang="es-ES" sz="1000" b="1" i="0" u="none" strike="noStrike" cap="none" spc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marR="0" indent="0" algn="r">
              <a:lnSpc>
                <a:spcPct val="100000"/>
              </a:lnSpc>
              <a:spcBef>
                <a:spcPts val="431"/>
              </a:spcBef>
              <a:spcAft>
                <a:spcPts val="0"/>
              </a:spcAft>
              <a:buFont typeface="Arial"/>
              <a:buNone/>
              <a:defRPr/>
            </a:pPr>
            <a:r>
              <a:rPr lang="es-ES" sz="1000" b="1" i="0" u="none" strike="noStrike" cap="none" spc="0">
                <a:solidFill>
                  <a:srgbClr val="FF5A16"/>
                </a:solidFill>
                <a:latin typeface="Arial"/>
                <a:ea typeface="Arial"/>
                <a:cs typeface="Arial"/>
              </a:rPr>
              <a:t>DOCENTE:</a:t>
            </a:r>
            <a:endParaRPr sz="1000" b="1" i="0" u="none" strike="noStrike" cap="none" spc="0">
              <a:solidFill>
                <a:srgbClr val="FF5A16"/>
              </a:solidFill>
              <a:latin typeface="Arial"/>
              <a:ea typeface="Arial"/>
              <a:cs typeface="Arial"/>
            </a:endParaRPr>
          </a:p>
          <a:p>
            <a:pPr marL="0" marR="0" indent="0" algn="r">
              <a:lnSpc>
                <a:spcPct val="100000"/>
              </a:lnSpc>
              <a:spcBef>
                <a:spcPts val="431"/>
              </a:spcBef>
              <a:spcAft>
                <a:spcPts val="0"/>
              </a:spcAft>
              <a:buFont typeface="Arial"/>
              <a:buNone/>
              <a:defRPr/>
            </a:pPr>
            <a:r>
              <a:rPr lang="es-ES" sz="1000" b="1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M.Sc.</a:t>
            </a:r>
            <a:r>
              <a:rPr lang="es-ES" sz="1000" b="1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es-ES" sz="1000" b="1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MAYENKA FERNÁNDEZ CHAMBI</a:t>
            </a:r>
            <a:endParaRPr sz="1000" b="1" i="0" u="none" strike="noStrike" cap="none" spc="0">
              <a:solidFill>
                <a:schemeClr val="tx1">
                  <a:lumMod val="65000"/>
                  <a:lumOff val="35000"/>
                </a:schemeClr>
              </a:solidFill>
              <a:latin typeface="Arial"/>
              <a:cs typeface="Arial"/>
            </a:endParaRPr>
          </a:p>
        </p:txBody>
      </p:sp>
      <p:pic>
        <p:nvPicPr>
          <p:cNvPr id="172268477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030247" y="3683291"/>
            <a:ext cx="2486915" cy="1385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8347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 sz="3600" b="1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rPr>
              <a:t>PROBLEMA </a:t>
            </a:r>
            <a:r>
              <a:rPr lang="es-ES" sz="3600" b="1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Y OBJETIVOS</a:t>
            </a:r>
            <a:endParaRPr sz="3600" b="1"/>
          </a:p>
        </p:txBody>
      </p:sp>
      <p:sp>
        <p:nvSpPr>
          <p:cNvPr id="708669412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es-ES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Desarrollar una aplicación de aprendizaje automático que prediga el riesgo de deserción de</a:t>
            </a:r>
            <a:r>
              <a:rPr lang="es-ES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es-ES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estudiantes universitarios.</a:t>
            </a:r>
            <a:endParaRPr sz="2400"/>
          </a:p>
          <a:p>
            <a:pPr>
              <a:defRPr/>
            </a:pPr>
            <a:r>
              <a:rPr lang="es-ES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Entrenar y optimizar un modelo de clasificación capaz de predecir si un estudiante aban</a:t>
            </a:r>
            <a:r>
              <a:rPr lang="es-ES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donará sus estudios</a:t>
            </a:r>
            <a:r>
              <a:rPr lang="es-ES" sz="2200"/>
              <a:t>.</a:t>
            </a:r>
            <a:endParaRPr lang="es-ES" sz="1400"/>
          </a:p>
          <a:p>
            <a:pPr>
              <a:defRPr/>
            </a:pPr>
            <a:r>
              <a:rPr lang="es-ES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Construir una API REST que exponga el modelo entrenado, permitiendo realizar pre</a:t>
            </a:r>
            <a:r>
              <a:rPr lang="es-ES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dicciones individuales junto con una explicación de los factores que influyeron en cada </a:t>
            </a:r>
            <a:r>
              <a:rPr lang="es-ES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resultado.</a:t>
            </a:r>
            <a:endParaRPr lang="es-ES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s-ES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Desplegar la aplicación en un entorno de producción accesible públicamente, con des</a:t>
            </a:r>
            <a:r>
              <a:rPr lang="es-ES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pliegue automático desde el repositorio de código</a:t>
            </a:r>
            <a:endParaRPr lang="es-ES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s-ES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Verificar el correcto funcionamiento de la aplicación mediante pruebas automatizadas</a:t>
            </a:r>
            <a:r>
              <a:rPr lang="es-ES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es-ES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que cubran los casos de uso principales</a:t>
            </a:r>
            <a:endParaRPr lang="es-ES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</p:txBody>
      </p:sp>
      <p:pic>
        <p:nvPicPr>
          <p:cNvPr id="173176249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878762" y="4397374"/>
            <a:ext cx="5672950" cy="3079749"/>
          </a:xfrm>
          <a:prstGeom prst="rect">
            <a:avLst/>
          </a:prstGeom>
        </p:spPr>
      </p:pic>
      <p:cxnSp>
        <p:nvCxnSpPr>
          <p:cNvPr id="1218636578" name=""/>
          <p:cNvCxnSpPr/>
          <p:nvPr/>
        </p:nvCxnSpPr>
        <p:spPr bwMode="auto">
          <a:xfrm flipH="1" flipV="0">
            <a:off x="5344499" y="1162049"/>
            <a:ext cx="6095999" cy="0"/>
          </a:xfrm>
          <a:prstGeom prst="line">
            <a:avLst/>
          </a:prstGeom>
          <a:ln w="28575" cap="flat" cmpd="sng" algn="ctr">
            <a:solidFill>
              <a:srgbClr val="FE842E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22664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3600" b="1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rPr>
              <a:t>DATA</a:t>
            </a:r>
            <a:r>
              <a:rPr lang="es-ES" sz="3600" b="1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SET</a:t>
            </a:r>
            <a:endParaRPr/>
          </a:p>
        </p:txBody>
      </p:sp>
      <p:sp>
        <p:nvSpPr>
          <p:cNvPr id="204271133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9" y="3648074"/>
            <a:ext cx="10972800" cy="269716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s-ES" sz="20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Variables demográficas, socioeconómicas, académicas y macroeconómicas</a:t>
            </a:r>
            <a:endParaRPr sz="20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s-ES" sz="20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Sin valores nulos</a:t>
            </a:r>
            <a:endParaRPr sz="20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s-ES" sz="20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Original: 3 clases → Simplificado a binario:</a:t>
            </a:r>
            <a:endParaRPr sz="20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s-ES" sz="20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Dropout (1421) vs. No Dropout (3003)</a:t>
            </a:r>
            <a:endParaRPr/>
          </a:p>
        </p:txBody>
      </p:sp>
      <p:pic>
        <p:nvPicPr>
          <p:cNvPr id="157713973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028837" y="1417638"/>
            <a:ext cx="5430224" cy="1925366"/>
          </a:xfrm>
          <a:prstGeom prst="rect">
            <a:avLst/>
          </a:prstGeom>
        </p:spPr>
      </p:pic>
      <p:cxnSp>
        <p:nvCxnSpPr>
          <p:cNvPr id="725296608" name=""/>
          <p:cNvCxnSpPr/>
          <p:nvPr/>
        </p:nvCxnSpPr>
        <p:spPr bwMode="auto">
          <a:xfrm flipH="1" flipV="0">
            <a:off x="8259149" y="1162049"/>
            <a:ext cx="3181349" cy="0"/>
          </a:xfrm>
          <a:prstGeom prst="line">
            <a:avLst/>
          </a:prstGeom>
          <a:ln w="28575" cap="flat" cmpd="sng" algn="ctr">
            <a:solidFill>
              <a:srgbClr val="FE842E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21533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 sz="3600" b="1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rPr>
              <a:t>MODELO </a:t>
            </a:r>
            <a:r>
              <a:rPr lang="es-ES" sz="3600" b="1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Y MÉTRICAS</a:t>
            </a:r>
            <a:endParaRPr sz="3600" b="1"/>
          </a:p>
        </p:txBody>
      </p:sp>
      <p:pic>
        <p:nvPicPr>
          <p:cNvPr id="65691410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76299" y="2228850"/>
            <a:ext cx="5086350" cy="1200150"/>
          </a:xfrm>
          <a:prstGeom prst="rect">
            <a:avLst/>
          </a:prstGeom>
        </p:spPr>
      </p:pic>
      <p:sp>
        <p:nvSpPr>
          <p:cNvPr id="918315830" name=""/>
          <p:cNvSpPr/>
          <p:nvPr/>
        </p:nvSpPr>
        <p:spPr bwMode="auto">
          <a:xfrm flipH="0" flipV="0">
            <a:off x="757770" y="3773368"/>
            <a:ext cx="10968583" cy="754436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Mejores hiperparámetros: {'max_depth': 12, 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</a:endParaRPr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'min_samples_leaf': 3, 'n_estimators': 200}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</a:endParaRPr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
Mejor F1 en CV: 0.7879</a:t>
            </a:r>
            <a:endParaRPr sz="2400"/>
          </a:p>
        </p:txBody>
      </p:sp>
      <p:pic>
        <p:nvPicPr>
          <p:cNvPr id="20080385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76299" y="4527805"/>
            <a:ext cx="2752724" cy="2014612"/>
          </a:xfrm>
          <a:prstGeom prst="rect">
            <a:avLst/>
          </a:prstGeom>
        </p:spPr>
      </p:pic>
      <p:pic>
        <p:nvPicPr>
          <p:cNvPr id="1483440463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6381749" y="1219199"/>
            <a:ext cx="5209494" cy="5610224"/>
          </a:xfrm>
          <a:prstGeom prst="rect">
            <a:avLst/>
          </a:prstGeom>
        </p:spPr>
      </p:pic>
      <p:cxnSp>
        <p:nvCxnSpPr>
          <p:cNvPr id="1973125733" name=""/>
          <p:cNvCxnSpPr/>
          <p:nvPr/>
        </p:nvCxnSpPr>
        <p:spPr bwMode="auto">
          <a:xfrm flipH="1" flipV="0">
            <a:off x="5887424" y="1162049"/>
            <a:ext cx="5553074" cy="0"/>
          </a:xfrm>
          <a:prstGeom prst="line">
            <a:avLst/>
          </a:prstGeom>
          <a:ln w="28575" cap="flat" cmpd="sng" algn="ctr">
            <a:solidFill>
              <a:srgbClr val="FE842E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48307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600" b="1">
                <a:solidFill>
                  <a:schemeClr val="tx1">
                    <a:lumMod val="85000"/>
                    <a:lumOff val="15000"/>
                  </a:schemeClr>
                </a:solidFill>
              </a:rPr>
              <a:t>ARQUITECTURA </a:t>
            </a:r>
            <a:r>
              <a:rPr sz="2600" b="1"/>
              <a:t>DE LA APLICACIÓN</a:t>
            </a:r>
            <a:endParaRPr sz="2600" b="1"/>
          </a:p>
        </p:txBody>
      </p:sp>
      <p:pic>
        <p:nvPicPr>
          <p:cNvPr id="80696384" name=""/>
          <p:cNvPicPr>
            <a:picLocks noChangeAspect="1"/>
          </p:cNvPicPr>
          <p:nvPr/>
        </p:nvPicPr>
        <p:blipFill rotWithShape="1">
          <a:blip r:embed="rId3"/>
          <a:srcRect l="0" t="17222" r="0" b="6527"/>
          <a:stretch/>
        </p:blipFill>
        <p:spPr bwMode="auto">
          <a:xfrm flipH="0" flipV="0">
            <a:off x="302445" y="1331913"/>
            <a:ext cx="11434708" cy="5229225"/>
          </a:xfrm>
          <a:prstGeom prst="rect">
            <a:avLst/>
          </a:prstGeom>
        </p:spPr>
      </p:pic>
      <p:cxnSp>
        <p:nvCxnSpPr>
          <p:cNvPr id="120626246" name=""/>
          <p:cNvCxnSpPr/>
          <p:nvPr/>
        </p:nvCxnSpPr>
        <p:spPr bwMode="auto">
          <a:xfrm flipH="1" flipV="0">
            <a:off x="5173049" y="1162049"/>
            <a:ext cx="6267449" cy="0"/>
          </a:xfrm>
          <a:prstGeom prst="line">
            <a:avLst/>
          </a:prstGeom>
          <a:ln w="28575" cap="flat" cmpd="sng" algn="ctr">
            <a:solidFill>
              <a:srgbClr val="FE842E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391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600" b="1">
                <a:solidFill>
                  <a:schemeClr val="tx1">
                    <a:lumMod val="85000"/>
                    <a:lumOff val="15000"/>
                  </a:schemeClr>
                </a:solidFill>
              </a:rPr>
              <a:t>DESPLIEGUE</a:t>
            </a:r>
            <a:r>
              <a:rPr sz="2600" b="1"/>
              <a:t> EN PRODUCCIÓN</a:t>
            </a:r>
            <a:endParaRPr sz="2600" b="1"/>
          </a:p>
        </p:txBody>
      </p:sp>
      <p:pic>
        <p:nvPicPr>
          <p:cNvPr id="1421802464" name=""/>
          <p:cNvPicPr>
            <a:picLocks noChangeAspect="1"/>
          </p:cNvPicPr>
          <p:nvPr/>
        </p:nvPicPr>
        <p:blipFill rotWithShape="1">
          <a:blip r:embed="rId3"/>
          <a:srcRect l="0" t="20655" r="0" b="5670"/>
          <a:stretch/>
        </p:blipFill>
        <p:spPr bwMode="auto">
          <a:xfrm flipH="0" flipV="0">
            <a:off x="895349" y="1747326"/>
            <a:ext cx="10545149" cy="4367723"/>
          </a:xfrm>
          <a:prstGeom prst="rect">
            <a:avLst/>
          </a:prstGeom>
        </p:spPr>
      </p:pic>
      <p:cxnSp>
        <p:nvCxnSpPr>
          <p:cNvPr id="2004896127" name=""/>
          <p:cNvCxnSpPr/>
          <p:nvPr/>
        </p:nvCxnSpPr>
        <p:spPr bwMode="auto">
          <a:xfrm flipH="1" flipV="0">
            <a:off x="5887424" y="1162049"/>
            <a:ext cx="5553074" cy="0"/>
          </a:xfrm>
          <a:prstGeom prst="line">
            <a:avLst/>
          </a:prstGeom>
          <a:ln w="28575" cap="flat" cmpd="sng" algn="ctr">
            <a:solidFill>
              <a:srgbClr val="FE842E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1416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600" b="1">
                <a:solidFill>
                  <a:schemeClr val="tx1">
                    <a:lumMod val="85000"/>
                    <a:lumOff val="15000"/>
                  </a:schemeClr>
                </a:solidFill>
              </a:rPr>
              <a:t>CONCLUSIONES</a:t>
            </a:r>
            <a:endParaRPr sz="2600" b="1"/>
          </a:p>
        </p:txBody>
      </p:sp>
      <p:cxnSp>
        <p:nvCxnSpPr>
          <p:cNvPr id="234903957" name=""/>
          <p:cNvCxnSpPr/>
          <p:nvPr/>
        </p:nvCxnSpPr>
        <p:spPr bwMode="auto">
          <a:xfrm flipH="1" flipV="0">
            <a:off x="5887424" y="1162049"/>
            <a:ext cx="5553074" cy="0"/>
          </a:xfrm>
          <a:prstGeom prst="line">
            <a:avLst/>
          </a:prstGeom>
          <a:ln w="28575" cap="flat" cmpd="sng" algn="ctr">
            <a:solidFill>
              <a:srgbClr val="FE842E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32186397" name=""/>
          <p:cNvGrpSpPr/>
          <p:nvPr/>
        </p:nvGrpSpPr>
        <p:grpSpPr bwMode="auto">
          <a:xfrm>
            <a:off x="1105875" y="1609724"/>
            <a:ext cx="10287000" cy="4991099"/>
            <a:chOff x="0" y="0"/>
            <a:chExt cx="10287000" cy="4991099"/>
          </a:xfrm>
        </p:grpSpPr>
        <p:pic>
          <p:nvPicPr>
            <p:cNvPr id="2085276174" name=""/>
            <p:cNvPicPr>
              <a:picLocks noChangeAspect="1"/>
            </p:cNvPicPr>
            <p:nvPr/>
          </p:nvPicPr>
          <p:blipFill rotWithShape="1">
            <a:blip r:embed="rId3"/>
            <a:srcRect l="0" t="18750" r="0" b="8472"/>
            <a:stretch/>
          </p:blipFill>
          <p:spPr bwMode="auto">
            <a:xfrm flipH="0" flipV="0">
              <a:off x="0" y="0"/>
              <a:ext cx="10287000" cy="4991099"/>
            </a:xfrm>
            <a:prstGeom prst="rect">
              <a:avLst/>
            </a:prstGeom>
          </p:spPr>
        </p:pic>
        <p:sp>
          <p:nvSpPr>
            <p:cNvPr id="452505664" name=""/>
            <p:cNvSpPr/>
            <p:nvPr/>
          </p:nvSpPr>
          <p:spPr bwMode="auto">
            <a:xfrm rot="0" flipH="0" flipV="0">
              <a:off x="277199" y="4114799"/>
              <a:ext cx="3219449" cy="733424"/>
            </a:xfrm>
            <a:prstGeom prst="flowChartAlternateProcess">
              <a:avLst/>
            </a:prstGeom>
            <a:solidFill>
              <a:srgbClr val="FBFCFD"/>
            </a:solidFill>
            <a:ln w="25400" cap="flat" cmpd="sng" algn="ctr">
              <a:solidFill>
                <a:srgbClr val="FBFDFE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2026-09-13T04:56:36Z</dcterms:modified>
</cp:coreProperties>
</file>